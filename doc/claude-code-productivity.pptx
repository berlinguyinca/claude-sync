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C3E50"/>
                </a:solidFill>
                <a:latin typeface="Calibri"/>
              </a:defRPr>
            </a:pPr>
            <a:r>
              <a:t>How Claude Code Transforms Our Development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Real productivity gains from AI-powered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  <a:latin typeface="Calibri"/>
              </a:defRPr>
            </a:pPr>
            <a:r>
              <a:t>Presented by Engineering  |  March 08,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029200"/>
            <a:ext cx="213329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The Problem: Manual Workflows Eat Our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Every code change requires a long chain of repetitive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18288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Branch &amp;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Manually create branches, write commit messages, stage files — context switching from actual 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920240"/>
            <a:ext cx="3474720" cy="18288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Push &amp; PR 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514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Write PR descriptions, add test plans, set reviewers — 10-15 min of boilerplate every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1920240"/>
            <a:ext cx="3474720" cy="18288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39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Code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514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Wait hours or days for peer review. Easy issues slip through when reviewers are rushed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474720" cy="18288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Fix Review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177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Go back and forth on review comments, push fixes, re-request review — another cycle of waiting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023360"/>
            <a:ext cx="3474720" cy="18288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199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Communicate 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6177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Write summaries, update tickets, explain changes to stakeholders who don't read 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9" y="4023360"/>
            <a:ext cx="3474720" cy="18288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9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39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Merge &amp; Cleanup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46177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Merge PR, delete branch, verify — more manual steps prone to mistakes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6035040"/>
            <a:ext cx="393192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60350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Total: 45-90 minutes per change 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The Solution: One Command Does It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Type /merge-it and Claude handles the entire workflow automatically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1371600" cy="10972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Create</a:t>
            </a:r>
            <a:br/>
            <a:r>
              <a:t>Branch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74520" y="2651760"/>
            <a:ext cx="2286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2286000"/>
            <a:ext cx="1371600" cy="10972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Push &amp;</a:t>
            </a:r>
            <a:br/>
            <a:r>
              <a:t>Open PR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20440" y="2651760"/>
            <a:ext cx="2286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49040" y="2286000"/>
            <a:ext cx="13716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Code</a:t>
            </a:r>
            <a:br/>
            <a:r>
              <a:t>Review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66360" y="2651760"/>
            <a:ext cx="2286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94960" y="2286000"/>
            <a:ext cx="13716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  <a:br/>
            <a:r>
              <a:t>Fix Plan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12280" y="2651760"/>
            <a:ext cx="2286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80" y="2286000"/>
            <a:ext cx="1371600" cy="10972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You</a:t>
            </a:r>
            <a:br/>
            <a:r>
              <a:t>Approve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458200" y="2651760"/>
            <a:ext cx="2286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0" y="2286000"/>
            <a:ext cx="13716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Fix, Test</a:t>
            </a:r>
            <a:br/>
            <a:r>
              <a:t>&amp; Present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104120" y="2651760"/>
            <a:ext cx="2286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32720" y="2286000"/>
            <a:ext cx="1371600" cy="10972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Merge</a:t>
            </a:r>
            <a:br/>
            <a:r>
              <a:t>&amp; 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657600"/>
            <a:ext cx="2377440" cy="54864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You stay in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3474720" cy="18288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73152" cy="1828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D9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Instant AI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166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No waiting for colleagues.</a:t>
            </a:r>
            <a:br/>
            <a:r>
              <a:t>Claude reviews every line</a:t>
            </a:r>
            <a:br/>
            <a:r>
              <a:t>of code immediately.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572000"/>
            <a:ext cx="3474720" cy="182880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4572000"/>
            <a:ext cx="73152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4754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AE6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19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Human Approval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19" y="5166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You approve what gets fixed.</a:t>
            </a:r>
            <a:br/>
            <a:r>
              <a:t>Nothing changes without</a:t>
            </a:r>
            <a:br/>
            <a:r>
              <a:t>your explicit sign-off.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9" y="4572000"/>
            <a:ext cx="3474720" cy="18288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599" y="4572000"/>
            <a:ext cx="73152" cy="1828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19" y="4754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D9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Auto 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5166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Generates a presentation</a:t>
            </a:r>
            <a:br/>
            <a:r>
              <a:t>explaining every change</a:t>
            </a:r>
            <a:br/>
            <a:r>
              <a:t>in plain English.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Before vs After: Same Work, Fraction of the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BEFORE  —  Manual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120640" cy="50292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Create branch &amp;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331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51206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Write PR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926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120640" cy="50292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Wait for code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520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4-24 hours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51206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Address review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114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15-30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5120640" cy="50292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Write change summary for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09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57800"/>
            <a:ext cx="51206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Merge and cleanup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303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463040"/>
            <a:ext cx="512064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5087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AFTER  —  /merge-it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286000"/>
            <a:ext cx="5120640" cy="50292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331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Auto branch, commit &amp; 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331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instant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880360"/>
            <a:ext cx="51206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926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Auto PR with 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926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instant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474720"/>
            <a:ext cx="5120640" cy="50292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AI code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3520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30 sec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069080"/>
            <a:ext cx="51206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114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Auto fix + your 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4114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2 min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663440"/>
            <a:ext cx="5120640" cy="50292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09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Auto-generated presentation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4709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15 sec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5257800"/>
            <a:ext cx="51206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303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One-click merge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5303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instant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623560" y="3200400"/>
            <a:ext cx="548640" cy="9144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1520" y="6035040"/>
            <a:ext cx="512064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035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45 min + hours of waiting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6035040"/>
            <a:ext cx="512064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6035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Under 5 minutes, zero waiting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Claude Isn't Just a Chatbot — It's a Development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Claude Code works directly in the terminal alongside your developers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201168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73152" cy="20116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D9"/>
                </a:solidFill>
                <a:latin typeface="Calibri"/>
              </a:defRPr>
            </a:pPr>
            <a:r>
              <a:t>&lt; 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Reads &amp; Writes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146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Understands your entire codebase.</a:t>
            </a:r>
            <a:br/>
            <a:r>
              <a:t>Edits files, creates branches,</a:t>
            </a:r>
            <a:br/>
            <a:r>
              <a:t>runs tests — all autonomously.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20240"/>
            <a:ext cx="3474720" cy="201168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920240"/>
            <a:ext cx="73152" cy="2011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AE60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19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Reviews Like a Senior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19" y="25146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Checks for security vulnerabilities,</a:t>
            </a:r>
            <a:br/>
            <a:r>
              <a:t>performance issues, edge cases,</a:t>
            </a:r>
            <a:br/>
            <a:r>
              <a:t>and maintainability concerns.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1920240"/>
            <a:ext cx="3474720" cy="201168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9" y="1920240"/>
            <a:ext cx="73152" cy="20116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D9"/>
                </a:solidFill>
                <a:latin typeface="Calibri"/>
              </a:defRPr>
            </a:pPr>
            <a:r>
              <a:t>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Explains in Plain English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25146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Generates presentations and</a:t>
            </a:r>
            <a:br/>
            <a:r>
              <a:t>summaries that non-technical</a:t>
            </a:r>
            <a:br/>
            <a:r>
              <a:t>stakeholders can understand.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3474720" cy="201168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97680"/>
            <a:ext cx="73152" cy="2011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AE60"/>
                </a:solidFill>
                <a:latin typeface="Calibri"/>
              </a:defRPr>
            </a:pPr>
            <a:r>
              <a:t>{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Custom 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920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Build reusable skills like /merge-it</a:t>
            </a:r>
            <a:br/>
            <a:r>
              <a:t>that encode your team's best</a:t>
            </a:r>
            <a:br/>
            <a:r>
              <a:t>practices into repeatable commands.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297680"/>
            <a:ext cx="3474720" cy="201168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4297680"/>
            <a:ext cx="73152" cy="20116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D9"/>
                </a:solidFill>
                <a:latin typeface="Calibri"/>
              </a:defRPr>
            </a:pPr>
            <a:r>
              <a:t>&lt;-&gt;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19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Syncs Across Machines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19" y="48920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Configuration, skills, and settings</a:t>
            </a:r>
            <a:br/>
            <a:r>
              <a:t>stay identical across every</a:t>
            </a:r>
            <a:br/>
            <a:r>
              <a:t>developer's workstation.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9" y="4297680"/>
            <a:ext cx="3474720" cy="201168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599" y="4297680"/>
            <a:ext cx="73152" cy="2011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19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AE60"/>
                </a:solidFill>
                <a:latin typeface="Calibri"/>
              </a:defRPr>
            </a:pPr>
            <a:r>
              <a:t>///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Plans &amp; Executes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48920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Break large projects into phases,</a:t>
            </a:r>
            <a:br/>
            <a:r>
              <a:t>research solutions, create plans,</a:t>
            </a:r>
            <a:br/>
            <a:r>
              <a:t>and execute with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The Numbers: Real Productivity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A90D9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Less Time on</a:t>
            </a:r>
            <a:br/>
            <a:r>
              <a:t>PR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From 45+ min down</a:t>
            </a:r>
            <a:br/>
            <a:r>
              <a:t>to under 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65176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645920"/>
            <a:ext cx="26517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920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346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Hours Waiting</a:t>
            </a:r>
            <a:br/>
            <a:r>
              <a:t>for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Instant AI review</a:t>
            </a:r>
            <a:br/>
            <a:r>
              <a:t>means no blockers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65176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45920"/>
            <a:ext cx="2651760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20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A90D9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Changes</a:t>
            </a:r>
            <a:br/>
            <a:r>
              <a:t>Documented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Every PR gets a</a:t>
            </a:r>
            <a:br/>
            <a:r>
              <a:t>presentation automatically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645920"/>
            <a:ext cx="265176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645920"/>
            <a:ext cx="26517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8346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Availability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Reviews happen at</a:t>
            </a:r>
            <a:br/>
            <a:r>
              <a:t>3am or 3pm — no waiting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54880"/>
            <a:ext cx="10698480" cy="182880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754880"/>
            <a:ext cx="1069848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Weekly Time Savings Per Developer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5486400"/>
            <a:ext cx="68580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7.5 hours/week on PR workflows (at 10 PRs/week)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6035040"/>
            <a:ext cx="7315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6035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With Claude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50 min/week  =  6.5 hours saved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It's Not Just Faster — It's 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Every review checks what humans often miss under time pressure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201168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73152" cy="2011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Calibri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Security Scanning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146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Checks for injection attacks, XSS,</a:t>
            </a:r>
            <a:br/>
            <a:r>
              <a:t>exposed secrets, and OWASP Top 10</a:t>
            </a:r>
            <a:br/>
            <a:r>
              <a:t>vulnerabilities — every single PR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20240"/>
            <a:ext cx="3474720" cy="201168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920240"/>
            <a:ext cx="73152" cy="20116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D9"/>
                </a:solidFill>
                <a:latin typeface="Calibri"/>
              </a:defRPr>
            </a:pPr>
            <a:r>
              <a:t>~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19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Cross-Platform Bugs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19" y="25146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Catches OS-specific issues between</a:t>
            </a:r>
            <a:br/>
            <a:r>
              <a:t>macOS, Linux, and Windows that</a:t>
            </a:r>
            <a:br/>
            <a:r>
              <a:t>cause production incidents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1920240"/>
            <a:ext cx="3474720" cy="201168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9" y="1920240"/>
            <a:ext cx="73152" cy="2011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103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AE60"/>
                </a:solidFill>
                <a:latin typeface="Calibri"/>
              </a:defRPr>
            </a:pPr>
            <a: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Performance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251460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Identifies inefficient patterns,</a:t>
            </a:r>
            <a:br/>
            <a:r>
              <a:t>memory leaks, and scalability</a:t>
            </a:r>
            <a:br/>
            <a:r>
              <a:t>concerns before they ship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3474720" cy="201168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97680"/>
            <a:ext cx="73152" cy="20116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90D9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Test Coverage 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920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Flags untested code paths and</a:t>
            </a:r>
            <a:br/>
            <a:r>
              <a:t>suggests what tests to add for</a:t>
            </a:r>
            <a:br/>
            <a:r>
              <a:t>confidence in your changes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297680"/>
            <a:ext cx="3474720" cy="201168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4297680"/>
            <a:ext cx="73152" cy="2011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AE60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19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Code Clarity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19" y="48920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Ensures code is readable and</a:t>
            </a:r>
            <a:br/>
            <a:r>
              <a:t>maintainable — reducing onboarding</a:t>
            </a:r>
            <a:br/>
            <a:r>
              <a:t>time for new team members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9" y="4297680"/>
            <a:ext cx="3474720" cy="201168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599" y="4297680"/>
            <a:ext cx="73152" cy="2011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19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4480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Edge Cases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48920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Thinks through boundary conditions</a:t>
            </a:r>
            <a:br/>
            <a:r>
              <a:t>and error scenarios that developers</a:t>
            </a:r>
            <a:br/>
            <a:r>
              <a:t>forget when they're in 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Happy Developers Ship Better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What Developers Hate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64008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Waiting for code reviews that block their progress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12064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Writing boilerplate PR descriptions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5120640" cy="64008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49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Context-switching between coding and process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512064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80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Explaining code changes to non-technical stakeholders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5120640" cy="64008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212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Repetitive merge/cleanup workflows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463040"/>
            <a:ext cx="512064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463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What Claude Solves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194560"/>
            <a:ext cx="5120640" cy="64008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286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Instant reviews — no more blocking on teammates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926080"/>
            <a:ext cx="512064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Auto-generated descriptions from actual code changes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657600"/>
            <a:ext cx="5120640" cy="64008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749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749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Stay in the code; Claude handles the process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389120"/>
            <a:ext cx="512064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480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480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Auto presentations in plain English, ready to share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120640"/>
            <a:ext cx="5120640" cy="64008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212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212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One command: branch, push, PR, review, merge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0" y="6126480"/>
            <a:ext cx="5760720" cy="5486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0" y="61264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Developers who love their tools build better products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We Built /merge-it in One Conversation with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Custom skills let us encode our best practices into reusable, shareable commands</a:t>
            </a:r>
          </a:p>
        </p:txBody>
      </p:sp>
      <p:sp>
        <p:nvSpPr>
          <p:cNvPr id="5" name="Oval 4"/>
          <p:cNvSpPr/>
          <p:nvPr/>
        </p:nvSpPr>
        <p:spPr>
          <a:xfrm>
            <a:off x="1143000" y="2194560"/>
            <a:ext cx="1005840" cy="100584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Described the</a:t>
            </a:r>
            <a:br/>
            <a:r>
              <a:t>workflow we wanted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2606040"/>
            <a:ext cx="777240" cy="7315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74720" y="2194560"/>
            <a:ext cx="1005840" cy="10058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30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Claude created</a:t>
            </a:r>
            <a:br/>
            <a:r>
              <a:t>the skill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606040"/>
            <a:ext cx="777240" cy="7315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06440" y="2194560"/>
            <a:ext cx="1005840" cy="100584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Tested it on</a:t>
            </a:r>
            <a:br/>
            <a:r>
              <a:t>real changes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606040"/>
            <a:ext cx="777240" cy="7315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59" y="2194560"/>
            <a:ext cx="1005840" cy="10058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 sec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799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Renamed and</a:t>
            </a:r>
            <a:br/>
            <a:r>
              <a:t>customized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2606040"/>
            <a:ext cx="777240" cy="7315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69880" y="2194560"/>
            <a:ext cx="1005840" cy="100584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Synced to all</a:t>
            </a:r>
            <a:br/>
            <a:r>
              <a:t>our machines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389120"/>
            <a:ext cx="9418320" cy="201168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4389120"/>
            <a:ext cx="73152" cy="20116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90D9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+  Anyone on the team can create custom skills — no special training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3949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+  Skills are shared via claude-sync, so the whole team benefits instantly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7607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+  We're building a library of team-specific workflows that compound over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61264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+  The skill that built this presentation? It also generates the slides you're looking at right now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  <a:latin typeface="Calibri"/>
              </a:defRPr>
            </a:pPr>
            <a:r>
              <a:t>Claude Code: Ship Faster, Ship 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Calibri"/>
              </a:defRPr>
            </a:pPr>
            <a:r>
              <a:t>Less process. More building. Better software.</a:t>
            </a:r>
          </a:p>
        </p:txBody>
      </p:sp>
      <p:sp>
        <p:nvSpPr>
          <p:cNvPr id="5" name="Oval 4"/>
          <p:cNvSpPr/>
          <p:nvPr/>
        </p:nvSpPr>
        <p:spPr>
          <a:xfrm>
            <a:off x="2377440" y="3474720"/>
            <a:ext cx="1371600" cy="13716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90% less time</a:t>
            </a:r>
            <a:br/>
            <a:r>
              <a:t>on PR workflows</a:t>
            </a:r>
          </a:p>
        </p:txBody>
      </p:sp>
      <p:sp>
        <p:nvSpPr>
          <p:cNvPr id="7" name="Oval 6"/>
          <p:cNvSpPr/>
          <p:nvPr/>
        </p:nvSpPr>
        <p:spPr>
          <a:xfrm>
            <a:off x="5577840" y="3474720"/>
            <a:ext cx="1371600" cy="1371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029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AI review catches</a:t>
            </a:r>
            <a:br/>
            <a:r>
              <a:t>what humans miss</a:t>
            </a:r>
          </a:p>
        </p:txBody>
      </p:sp>
      <p:sp>
        <p:nvSpPr>
          <p:cNvPr id="9" name="Oval 8"/>
          <p:cNvSpPr/>
          <p:nvPr/>
        </p:nvSpPr>
        <p:spPr>
          <a:xfrm>
            <a:off x="8778240" y="3474720"/>
            <a:ext cx="1371600" cy="137160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8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Joy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029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Developers focus</a:t>
            </a:r>
            <a:br/>
            <a:r>
              <a:t>on what they love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5669280"/>
            <a:ext cx="4846320" cy="7315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57150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Let's get Claude Code for the 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6583680"/>
            <a:ext cx="213329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